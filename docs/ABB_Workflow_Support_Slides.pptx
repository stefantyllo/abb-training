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76509498c1474513" Type="http://schemas.openxmlformats.org/package/2006/relationships/metadata/core-properties" Target="docProps/core.xml"/><Relationship Id="Rf208d590a946435b" Type="http://schemas.openxmlformats.org/officeDocument/2006/relationships/extended-properties" Target="docProps/app.xml"/><Relationship Id="Rf46c683813ac411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90444c682940ce"/>
  </p:sldMasterIdLst>
  <p:notesMasterIdLst>
    <p:notesMasterId xmlns:r="http://schemas.openxmlformats.org/officeDocument/2006/relationships" r:id="R3889d8210f40424b"/>
  </p:notesMasterIdLst>
  <p:sldIdLst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r="http://schemas.openxmlformats.org/officeDocument/2006/relationships" id="256" r:id="R84e1a28f62564b27"/>
    <p:sldId xmlns:r="http://schemas.openxmlformats.org/officeDocument/2006/relationships" id="257" r:id="Ra70c995a2fd4481a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3889d8210f40424b" Type="http://schemas.openxmlformats.org/officeDocument/2006/relationships/notesMaster" Target="notesMasters/notesMaster1.xml"/><Relationship Id="R4bbd3a721ad646af" Type="http://schemas.openxmlformats.org/officeDocument/2006/relationships/tableStyles" Target="tableStyles.xml"/><Relationship Id="R7990444c682940ce" Type="http://schemas.openxmlformats.org/officeDocument/2006/relationships/slideMaster" Target="slideMasters/slideMaster1.xml"/><Relationship Id="R84e1a28f62564b27" Type="http://schemas.openxmlformats.org/officeDocument/2006/relationships/slide" Target="slides/slide1.xml"/><Relationship Id="Ra70c995a2fd4481a" Type="http://schemas.openxmlformats.org/officeDocument/2006/relationships/slide" Target="slides/slide2.xml"/><Relationship Id="Rc0727d9d79ea4833" Type="http://schemas.openxmlformats.org/officeDocument/2006/relationships/presProps" Target="presProps.xml"/><Relationship Id="Rfe322117453f4106" Type="http://schemas.openxmlformats.org/officeDocument/2006/relationships/theme" Target="theme/them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4180190b608f475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09f1bc8ed19419a" Type="http://schemas.openxmlformats.org/officeDocument/2006/relationships/slide" Target="../slides/slide1.xml"/><Relationship Id="Rc25913744f6b4c03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6e1915cf3d034b09" Type="http://schemas.openxmlformats.org/officeDocument/2006/relationships/notesMaster" Target="../notesMasters/notesMaster1.xml"/><Relationship Id="R8445434151034221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Polska wersja istniejącego slajdu z PR #2. Zachowano układ, kolory i edytowalne elementy. Nazwy plików są nazwami artefaktów, dlatego pozostają w oryginale.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Polska wersja istniejącego slajdu z PR #2. Zachowano układ, kolory i edytowalne elementy. Nazwy plików są nazwami artefaktów, dlatego pozostają w oryginale.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Plansza otwierająca. Duży czerwony napis na białym tle nawiązuje do wizualnego charakteru ABB. Kostki są edytowalnymi kształtami, nie bitmapą.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Źródło: dostarczony chatgpt-astra-training.html, moduł „Stochasticity: One Prompt, Several Valid Answers”, slajdy „One Prompt, Several Valid Answers” i „Reduce Unwanted Variability”. Przykłady są ilustracjami, a nie zapisami pomiaru. Jasne instrukcje redukują niejednoznaczność, ale nie gwarantują identycznych ani poprawnych wyników. Powtarzana zgodność nie zastępuje weryfikacji.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„Amnezja” to metafora braku trwałego stanu rozmowy w samym wywołaniu modelu. Aplikacja może przechowywać historię i dostarczać ją modelowi; wyjaśnia to kolejny slajd.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Adaptacja wskazanego lokalnego slajdu: MS_Copilot/previews/index.html#slide=slide-010&amp;locale=pl. Schemat przedstawia dostarczanie historii przez aplikację w kolejnych wywołaniach. W praktyce może to być wybrana historia, streszczenie lub kontekst pobrany z zewnątrz. Cache powtarzanego prefiksu jest optymalizacją przetwarzania i nie stanowi uczenia ani samodzielnej trwałej pamięci modelu. Nie zakładamy, że każde wywołanie używa cache. Wszystkie elementy diagramu pozostają edytowalne.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0bd0dd07e506485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b4a7b70756134b9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ea030b0144e4526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67e285c1828d4f4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d06f07fcc0f45a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77d31b4e07348d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768318D-EF1E-4D5C-8D56-3B25AECCE7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238500"/>
            <a:ext cx="1219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AFEBE52-38AC-4F0E-A0BB-D96D876063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86000" y="47148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2FC94D0-AA97-4B9B-BF54-70A1EEA350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24000" y="3571875"/>
            <a:ext cx="12192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4B6DCD7-3F90-46BB-A361-B5561E647D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CEAE8F0-9AEA-4742-A6F3-D7DFD20A39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13525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0240503-B2B2-4F7D-8ADF-27851EBC62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F10A108-434E-430A-ACDB-D4F25AAEA4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B8CA711-6DE3-4F7F-8D84-0A5951DC74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096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73EAAA6-3DC8-46A4-9F40-ED204A142F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57250" y="666750"/>
            <a:ext cx="1352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994CA22-C6BE-4813-88BD-E8388F182B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57250" y="2381250"/>
            <a:ext cx="6286500" cy="53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5f33e70cb7e4081" Type="http://schemas.openxmlformats.org/officeDocument/2006/relationships/slideLayout" Target="../slideLayouts/slideLayout6.xml"/><Relationship Id="R258a67f46c7a4f0d" Type="http://schemas.openxmlformats.org/officeDocument/2006/relationships/slideLayout" Target="../slideLayouts/slideLayout5.xml"/><Relationship Id="R3c7d683176ca485b" Type="http://schemas.openxmlformats.org/officeDocument/2006/relationships/slideLayout" Target="../slideLayouts/slideLayout2.xml"/><Relationship Id="R42875429d34e4908" Type="http://schemas.openxmlformats.org/officeDocument/2006/relationships/slideLayout" Target="../slideLayouts/slideLayout4.xml"/><Relationship Id="R654f796cf9554793" Type="http://schemas.openxmlformats.org/officeDocument/2006/relationships/slideLayout" Target="../slideLayouts/slideLayout1.xml"/><Relationship Id="R77fcf38026dc4edd" Type="http://schemas.openxmlformats.org/officeDocument/2006/relationships/slideLayout" Target="../slideLayouts/slideLayout3.xml"/><Relationship Id="R8c93f626a83843b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4f796cf9554793"/>
    <p:sldLayoutId xmlns:r="http://schemas.openxmlformats.org/officeDocument/2006/relationships" id="2147483650" r:id="R3c7d683176ca485b"/>
    <p:sldLayoutId xmlns:r="http://schemas.openxmlformats.org/officeDocument/2006/relationships" id="2147483651" r:id="R77fcf38026dc4edd"/>
    <p:sldLayoutId xmlns:r="http://schemas.openxmlformats.org/officeDocument/2006/relationships" id="2147483652" r:id="R42875429d34e4908"/>
    <p:sldLayoutId xmlns:r="http://schemas.openxmlformats.org/officeDocument/2006/relationships" id="2147483653" r:id="R258a67f46c7a4f0d"/>
    <p:sldLayoutId xmlns:r="http://schemas.openxmlformats.org/officeDocument/2006/relationships" id="2147483654" r:id="R05f33e70cb7e40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9f7cb03cebc4b81" Type="http://schemas.openxmlformats.org/officeDocument/2006/relationships/notesSlide" Target="../notesSlides/notesSlide1.xml"/><Relationship Id="R3703e302d83845e6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548919882ef34b4b" Type="http://schemas.openxmlformats.org/officeDocument/2006/relationships/notesSlide" Target="../notesSlides/notesSlide2.xml"/><Relationship Id="R9964cf7979ff4fb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048A87-CA21-4A3C-BC7D-F39D80F1180E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110490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762950E-73E6-42B4-8BA9-D6A730C4E04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4676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9450D4-CB1C-40C8-8949-ABABDA9D9C0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3886200" y="47625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sp>
        <p:nvSpPr>
          <p:cNvPr id="34" name="training-label">
            <a:extLst xmlns:a="http://schemas.openxmlformats.org/drawingml/2006/main">
              <a:ext uri="{FF2B5EF4-FFF2-40B4-BE49-F238E27FC236}">
                <a16:creationId xmlns:a16="http://schemas.microsoft.com/office/drawing/2014/main" id="{8EA7FFE5-F57B-4CE4-9488-7AFEAD56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285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Szkolenie inżynierskie ABB / Pokaż — uogólnij — zautomatyzuj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734EE65-1B08-4B74-B603-839CD66D0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3450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Metoda czterech etapów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740274F-8F00-46A2-80BF-D775F02C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402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C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68DBCCD-D609-4925-BBE9-0BE1AB727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80772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5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1BD5B9E2-B863-4129-B45F-CEE38F0C9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381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Wykonaj zadanie, opisz proces i przenieś powtarzalne operacje do kodu.</a:t>
            </a:r>
          </a:p>
        </p:txBody>
      </p:sp>
      <p:sp>
        <p:nvSpPr>
          <p:cNvPr id="6" name="stage-1">
            <a:extLst xmlns:a="http://schemas.openxmlformats.org/drawingml/2006/main">
              <a:ext uri="{FF2B5EF4-FFF2-40B4-BE49-F238E27FC236}">
                <a16:creationId xmlns:a16="http://schemas.microsoft.com/office/drawing/2014/main" id="{379FF7A2-B293-4A2F-8980-A1DABE6F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stage-number-0">
            <a:extLst xmlns:a="http://schemas.openxmlformats.org/drawingml/2006/main">
              <a:ext uri="{FF2B5EF4-FFF2-40B4-BE49-F238E27FC236}">
                <a16:creationId xmlns:a16="http://schemas.microsoft.com/office/drawing/2014/main" id="{2764D000-84C8-4D17-9479-AE69DB9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8" name="stage-name-0">
            <a:extLst xmlns:a="http://schemas.openxmlformats.org/drawingml/2006/main">
              <a:ext uri="{FF2B5EF4-FFF2-40B4-BE49-F238E27FC236}">
                <a16:creationId xmlns:a16="http://schemas.microsoft.com/office/drawing/2014/main" id="{94B1CAE4-B32B-4666-81ED-3DFE2B43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Pokaż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udokumentuj</a:t>
            </a:r>
          </a:p>
        </p:txBody>
      </p:sp>
      <p:sp>
        <p:nvSpPr>
          <p:cNvPr id="9" name="stage-purpose-0">
            <a:extLst xmlns:a="http://schemas.openxmlformats.org/drawingml/2006/main">
              <a:ext uri="{FF2B5EF4-FFF2-40B4-BE49-F238E27FC236}">
                <a16:creationId xmlns:a16="http://schemas.microsoft.com/office/drawing/2014/main" id="{D812CC43-2CAD-4A6D-8055-931C91CD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Prowadź po jednej operacji. Wyjaśniaj cel. Zapisuj wyniki i naprawy.</a:t>
            </a:r>
          </a:p>
        </p:txBody>
      </p:sp>
      <p:sp>
        <p:nvSpPr>
          <p:cNvPr id="10" name="stage-divider-0">
            <a:extLst xmlns:a="http://schemas.openxmlformats.org/drawingml/2006/main">
              <a:ext uri="{FF2B5EF4-FFF2-40B4-BE49-F238E27FC236}">
                <a16:creationId xmlns:a16="http://schemas.microsoft.com/office/drawing/2014/main" id="{0D40F3B3-B6B9-4C3E-BF9A-264CCCE1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stage-output-0">
            <a:extLst xmlns:a="http://schemas.openxmlformats.org/drawingml/2006/main">
              <a:ext uri="{FF2B5EF4-FFF2-40B4-BE49-F238E27FC236}">
                <a16:creationId xmlns:a16="http://schemas.microsoft.com/office/drawing/2014/main" id="{56F7F9B3-182E-4D6F-B566-E28D9BF91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evidence/session.md</a:t>
            </a:r>
          </a:p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workflow.md</a:t>
            </a:r>
          </a:p>
        </p:txBody>
      </p:sp>
      <p:sp>
        <p:nvSpPr>
          <p:cNvPr id="12" name="stage-2">
            <a:extLst xmlns:a="http://schemas.openxmlformats.org/drawingml/2006/main">
              <a:ext uri="{FF2B5EF4-FFF2-40B4-BE49-F238E27FC236}">
                <a16:creationId xmlns:a16="http://schemas.microsoft.com/office/drawing/2014/main" id="{6160CF50-8F22-4B5F-B039-D2389D6F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stage-number-1">
            <a:extLst xmlns:a="http://schemas.openxmlformats.org/drawingml/2006/main">
              <a:ext uri="{FF2B5EF4-FFF2-40B4-BE49-F238E27FC236}">
                <a16:creationId xmlns:a16="http://schemas.microsoft.com/office/drawing/2014/main" id="{882E7100-3C8A-4002-B054-D89FC908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14" name="stage-name-1">
            <a:extLst xmlns:a="http://schemas.openxmlformats.org/drawingml/2006/main">
              <a:ext uri="{FF2B5EF4-FFF2-40B4-BE49-F238E27FC236}">
                <a16:creationId xmlns:a16="http://schemas.microsoft.com/office/drawing/2014/main" id="{0AA82853-8E8E-4762-9CBC-ADAFC629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Uogólnij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proces</a:t>
            </a:r>
          </a:p>
        </p:txBody>
      </p:sp>
      <p:sp>
        <p:nvSpPr>
          <p:cNvPr id="15" name="stage-purpose-1">
            <a:extLst xmlns:a="http://schemas.openxmlformats.org/drawingml/2006/main">
              <a:ext uri="{FF2B5EF4-FFF2-40B4-BE49-F238E27FC236}">
                <a16:creationId xmlns:a16="http://schemas.microsoft.com/office/drawing/2014/main" id="{EEA3F4FD-43A8-4E35-8B72-4793C671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Zdefiniuj dane wejściowe. Zachowaj ograniczenia i kryteria odbioru.</a:t>
            </a:r>
          </a:p>
        </p:txBody>
      </p:sp>
      <p:sp>
        <p:nvSpPr>
          <p:cNvPr id="16" name="stage-divider-1">
            <a:extLst xmlns:a="http://schemas.openxmlformats.org/drawingml/2006/main">
              <a:ext uri="{FF2B5EF4-FFF2-40B4-BE49-F238E27FC236}">
                <a16:creationId xmlns:a16="http://schemas.microsoft.com/office/drawing/2014/main" id="{0C97307C-BACA-464F-909F-066EC5009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stage-output-1">
            <a:extLst xmlns:a="http://schemas.openxmlformats.org/drawingml/2006/main">
              <a:ext uri="{FF2B5EF4-FFF2-40B4-BE49-F238E27FC236}">
                <a16:creationId xmlns:a16="http://schemas.microsoft.com/office/drawing/2014/main" id="{9D455119-F4BF-44D8-BCA3-5C4C682D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workflow.md</a:t>
            </a:r>
          </a:p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workflow-md-only.md</a:t>
            </a:r>
          </a:p>
        </p:txBody>
      </p:sp>
      <p:sp>
        <p:nvSpPr>
          <p:cNvPr id="18" name="stage-3">
            <a:extLst xmlns:a="http://schemas.openxmlformats.org/drawingml/2006/main">
              <a:ext uri="{FF2B5EF4-FFF2-40B4-BE49-F238E27FC236}">
                <a16:creationId xmlns:a16="http://schemas.microsoft.com/office/drawing/2014/main" id="{218E0866-886A-4A3F-B520-8D921042A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stage-number-2">
            <a:extLst xmlns:a="http://schemas.openxmlformats.org/drawingml/2006/main">
              <a:ext uri="{FF2B5EF4-FFF2-40B4-BE49-F238E27FC236}">
                <a16:creationId xmlns:a16="http://schemas.microsoft.com/office/drawing/2014/main" id="{CC513167-90F1-4D60-B800-472DBD7C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20" name="stage-name-2">
            <a:extLst xmlns:a="http://schemas.openxmlformats.org/drawingml/2006/main">
              <a:ext uri="{FF2B5EF4-FFF2-40B4-BE49-F238E27FC236}">
                <a16:creationId xmlns:a16="http://schemas.microsoft.com/office/drawing/2014/main" id="{17FF5F97-ED0B-4834-A8B3-EC66A7F43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Wybierz operacje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automatyzacji</a:t>
            </a:r>
          </a:p>
        </p:txBody>
      </p:sp>
      <p:sp>
        <p:nvSpPr>
          <p:cNvPr id="21" name="stage-purpose-2">
            <a:extLst xmlns:a="http://schemas.openxmlformats.org/drawingml/2006/main">
              <a:ext uri="{FF2B5EF4-FFF2-40B4-BE49-F238E27FC236}">
                <a16:creationId xmlns:a16="http://schemas.microsoft.com/office/drawing/2014/main" id="{615DE7C5-AF66-4409-9CA0-A0EC205B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Rozdziel operacje między kod, ocenę modelu i decyzje człowieka.</a:t>
            </a:r>
          </a:p>
        </p:txBody>
      </p:sp>
      <p:sp>
        <p:nvSpPr>
          <p:cNvPr id="22" name="stage-divider-2">
            <a:extLst xmlns:a="http://schemas.openxmlformats.org/drawingml/2006/main">
              <a:ext uri="{FF2B5EF4-FFF2-40B4-BE49-F238E27FC236}">
                <a16:creationId xmlns:a16="http://schemas.microsoft.com/office/drawing/2014/main" id="{1C682712-AE8E-41BC-AFAF-C6C90896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stage-output-2">
            <a:extLst xmlns:a="http://schemas.openxmlformats.org/drawingml/2006/main">
              <a:ext uri="{FF2B5EF4-FFF2-40B4-BE49-F238E27FC236}">
                <a16:creationId xmlns:a16="http://schemas.microsoft.com/office/drawing/2014/main" id="{0D078322-1789-4680-854D-1811E9C8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extraction-map.md</a:t>
            </a:r>
          </a:p>
        </p:txBody>
      </p:sp>
      <p:sp>
        <p:nvSpPr>
          <p:cNvPr id="24" name="stage-4">
            <a:extLst xmlns:a="http://schemas.openxmlformats.org/drawingml/2006/main">
              <a:ext uri="{FF2B5EF4-FFF2-40B4-BE49-F238E27FC236}">
                <a16:creationId xmlns:a16="http://schemas.microsoft.com/office/drawing/2014/main" id="{B7F1DF18-8EF9-48D7-A927-00BE448B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857500"/>
            <a:ext cx="32766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stage-number-3">
            <a:extLst xmlns:a="http://schemas.openxmlformats.org/drawingml/2006/main">
              <a:ext uri="{FF2B5EF4-FFF2-40B4-BE49-F238E27FC236}">
                <a16:creationId xmlns:a16="http://schemas.microsoft.com/office/drawing/2014/main" id="{4F5A5C98-4F3A-4DE6-B0BF-908BF9A44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3048000"/>
            <a:ext cx="276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sp>
        <p:nvSpPr>
          <p:cNvPr id="26" name="stage-name-3">
            <a:extLst xmlns:a="http://schemas.openxmlformats.org/drawingml/2006/main">
              <a:ext uri="{FF2B5EF4-FFF2-40B4-BE49-F238E27FC236}">
                <a16:creationId xmlns:a16="http://schemas.microsoft.com/office/drawing/2014/main" id="{B3683AAC-4A89-46A1-8BAF-3AD5F9E1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3733800"/>
            <a:ext cx="285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Napisz czytelny,</a:t>
            </a:r>
          </a:p>
          <a:p xmlns:a="http://schemas.openxmlformats.org/drawingml/2006/main">
            <a:r>
              <a:rPr sz="217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szczegółowy kod</a:t>
            </a:r>
          </a:p>
        </p:txBody>
      </p:sp>
      <p:sp>
        <p:nvSpPr>
          <p:cNvPr id="27" name="stage-purpose-3">
            <a:extLst xmlns:a="http://schemas.openxmlformats.org/drawingml/2006/main">
              <a:ext uri="{FF2B5EF4-FFF2-40B4-BE49-F238E27FC236}">
                <a16:creationId xmlns:a16="http://schemas.microsoft.com/office/drawing/2014/main" id="{E7CE7237-8BBF-4FE6-BAB6-737E1A20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4781550"/>
            <a:ext cx="287655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Twórz czytelne funkcje i logi. Testuj kod. Aktualizuj opis procesu.</a:t>
            </a:r>
          </a:p>
        </p:txBody>
      </p:sp>
      <p:sp>
        <p:nvSpPr>
          <p:cNvPr id="28" name="stage-divider-3">
            <a:extLst xmlns:a="http://schemas.openxmlformats.org/drawingml/2006/main">
              <a:ext uri="{FF2B5EF4-FFF2-40B4-BE49-F238E27FC236}">
                <a16:creationId xmlns:a16="http://schemas.microsoft.com/office/drawing/2014/main" id="{8134998C-0071-4D2D-897C-612A17A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019800"/>
            <a:ext cx="281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stage-output-3">
            <a:extLst xmlns:a="http://schemas.openxmlformats.org/drawingml/2006/main">
              <a:ext uri="{FF2B5EF4-FFF2-40B4-BE49-F238E27FC236}">
                <a16:creationId xmlns:a16="http://schemas.microsoft.com/office/drawing/2014/main" id="{A3936152-7DB3-475E-B7E8-4179203A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2400" y="61912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150" b="0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automation/</a:t>
            </a:r>
          </a:p>
          <a:p xmlns:a="http://schemas.openxmlformats.org/drawingml/2006/main">
            <a:r>
              <a:rPr sz="1150" b="0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zaktualizowany workflow.md</a:t>
            </a:r>
          </a:p>
        </p:txBody>
      </p:sp>
      <p:sp>
        <p:nvSpPr>
          <p:cNvPr id="33" name="replay">
            <a:extLst xmlns:a="http://schemas.openxmlformats.org/drawingml/2006/main">
              <a:ext uri="{FF2B5EF4-FFF2-40B4-BE49-F238E27FC236}">
                <a16:creationId xmlns:a16="http://schemas.microsoft.com/office/drawing/2014/main" id="{63BB311F-7431-41E2-ACF8-3700D232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143750"/>
            <a:ext cx="13954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 etapie 4: powtórz proces na nowym przypadku i sprawdź kryteria odbioru.</a:t>
            </a:r>
          </a:p>
        </p:txBody>
      </p:sp>
    </p:spTree>
    <p:extLst>
      <p:ext uri="{BB962C8B-B14F-4D97-AF65-F5344CB8AC3E}">
        <p14:creationId xmlns:p14="http://schemas.microsoft.com/office/powerpoint/2010/main" val="10297792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D361DF4-36A4-41F6-B046-312D40CFCF56}"/>
              </a:ext>
            </a:extLst>
          </p:cNvPr>
          <p:cNvCxnSpPr>
            <a:stCxn xmlns:a="http://schemas.openxmlformats.org/drawingml/2006/main" id="58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1260157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99A4E7-3DE7-4202-9234-23FC8AB15FD4}"/>
              </a:ext>
            </a:extLst>
          </p:cNvPr>
          <p:cNvCxnSpPr>
            <a:stCxn xmlns:a="http://schemas.openxmlformats.org/drawingml/2006/main" id="54" idx="3"/>
            <a:endCxn xmlns:a="http://schemas.openxmlformats.org/drawingml/2006/main" id="58" idx="1"/>
          </p:cNvCxnSpPr>
          <p:nvPr/>
        </p:nvCxnSpPr>
        <p:spPr>
          <a:xfrm xmlns:a="http://schemas.openxmlformats.org/drawingml/2006/main">
            <a:off x="1057275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A82FC22-F04C-4F2E-ACE9-36F0E17E8AF1}"/>
              </a:ext>
            </a:extLst>
          </p:cNvPr>
          <p:cNvCxnSpPr>
            <a:stCxn xmlns:a="http://schemas.openxmlformats.org/drawingml/2006/main" id="50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854392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59CFB47-47CF-4473-8C60-B391720809CF}"/>
              </a:ext>
            </a:extLst>
          </p:cNvPr>
          <p:cNvCxnSpPr>
            <a:stCxn xmlns:a="http://schemas.openxmlformats.org/drawingml/2006/main" id="46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>
            <a:off x="651510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E92B1FB-356A-42F6-8ED4-30484F70FE78}"/>
              </a:ext>
            </a:extLst>
          </p:cNvPr>
          <p:cNvCxnSpPr>
            <a:stCxn xmlns:a="http://schemas.openxmlformats.org/drawingml/2006/main" id="42" idx="3"/>
            <a:endCxn xmlns:a="http://schemas.openxmlformats.org/drawingml/2006/main" id="46" idx="1"/>
          </p:cNvCxnSpPr>
          <p:nvPr/>
        </p:nvCxnSpPr>
        <p:spPr>
          <a:xfrm xmlns:a="http://schemas.openxmlformats.org/drawingml/2006/main">
            <a:off x="4486275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584C564-1549-4923-853A-0F9AC442CA6F}"/>
              </a:ext>
            </a:extLst>
          </p:cNvPr>
          <p:cNvCxnSpPr>
            <a:stCxn xmlns:a="http://schemas.openxmlformats.org/drawingml/2006/main" id="38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2457450" y="71008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006C86"/>
            </a:solidFill>
            <a:prstDash val="solid"/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94544A-1C59-4B63-B7B4-C8841BAF2A39}"/>
              </a:ext>
            </a:extLst>
          </p:cNvPr>
          <p:cNvCxnSpPr>
            <a:stCxn xmlns:a="http://schemas.openxmlformats.org/drawingml/2006/main" id="16" idx="2"/>
            <a:endCxn xmlns:a="http://schemas.openxmlformats.org/drawingml/2006/main" id="32" idx="0"/>
          </p:cNvCxnSpPr>
          <p:nvPr/>
        </p:nvCxnSpPr>
        <p:spPr>
          <a:xfrm xmlns:a="http://schemas.openxmlformats.org/drawingml/2006/main">
            <a:off x="9648825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7070C9-FB52-4245-A9B9-B23DA4C77892}"/>
              </a:ext>
            </a:extLst>
          </p:cNvPr>
          <p:cNvCxnSpPr>
            <a:stCxn xmlns:a="http://schemas.openxmlformats.org/drawingml/2006/main" id="14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7620000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5EC13F2-A234-43D5-8E60-D0B8C48A04C4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28" idx="0"/>
          </p:cNvCxnSpPr>
          <p:nvPr/>
        </p:nvCxnSpPr>
        <p:spPr>
          <a:xfrm xmlns:a="http://schemas.openxmlformats.org/drawingml/2006/main">
            <a:off x="5591175" y="424815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dash"/>
            <a:tailEnd type="triangle" w="sm" len="sm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34A177-2C3F-4319-8119-587492FD5E98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1260157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5179FF-D9CD-4A29-A2D2-29CF154A4D29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1057275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4C71D-D8FD-4DA1-8E9C-215708F41CC7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54392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B54F8D-656F-4C77-A13E-EDD7F5D2C71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51510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AD0E86-6FE7-4160-88EE-2476555CA24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486275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386D03-4C21-4244-927E-2BDB12A7568F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457450" y="3810000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B34B3D"/>
            </a:solidFill>
            <a:prstDash val="solid"/>
            <a:tailEnd type="triangle" w="sm" len="sm"/>
          </a:ln>
        </p:spPr>
      </p:cxnSp>
      <p:sp>
        <p:nvSpPr>
          <p:cNvPr id="73" name="training-label">
            <a:extLst xmlns:a="http://schemas.openxmlformats.org/drawingml/2006/main">
              <a:ext uri="{FF2B5EF4-FFF2-40B4-BE49-F238E27FC236}">
                <a16:creationId xmlns:a16="http://schemas.microsoft.com/office/drawing/2014/main" id="{31B2C363-A3D2-4322-8CD4-C0AA4CB5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285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Szkolenie inżynierskie ABB / Pokaż — uogólnij — zautomatyzuj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5404F52-6326-4D6C-AA5E-77839059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4020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900" b="1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Jedno długie polecenie czy osobne uruchomienia Copilot CLI?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5ADA86B2-6827-4100-A699-592EFAA6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14020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C86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6AC8745-9400-4647-A7E1-3A815545B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80772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r">
              <a:defRPr sz="13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6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35C03B55-4C48-40E0-97C1-0945E2C4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390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Te same siedem działań, ale różne granice kontekstu</a:t>
            </a:r>
          </a:p>
        </p:txBody>
      </p:sp>
      <p:sp>
        <p:nvSpPr>
          <p:cNvPr id="6" name="long-label">
            <a:extLst xmlns:a="http://schemas.openxmlformats.org/drawingml/2006/main">
              <a:ext uri="{FF2B5EF4-FFF2-40B4-BE49-F238E27FC236}">
                <a16:creationId xmlns:a16="http://schemas.microsoft.com/office/drawing/2014/main" id="{9ED82FFA-2592-4A1A-B1E4-5594C39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A   JEDNO URUCHOMIENIE COPILOT CLI</a:t>
            </a:r>
          </a:p>
        </p:txBody>
      </p:sp>
      <p:sp>
        <p:nvSpPr>
          <p:cNvPr id="7" name="long-description">
            <a:extLst xmlns:a="http://schemas.openxmlformats.org/drawingml/2006/main">
              <a:ext uri="{FF2B5EF4-FFF2-40B4-BE49-F238E27FC236}">
                <a16:creationId xmlns:a16="http://schemas.microsoft.com/office/drawing/2014/main" id="{8048D7F4-0773-4C3F-B7E1-A3D066CB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390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Cel, wyniki narzędzi i kolejne próby naprawy trafiają do wspólnego kontekstu.</a:t>
            </a:r>
          </a:p>
        </p:txBody>
      </p:sp>
      <p:sp>
        <p:nvSpPr>
          <p:cNvPr id="8" name="long-step-0">
            <a:extLst xmlns:a="http://schemas.openxmlformats.org/drawingml/2006/main">
              <a:ext uri="{FF2B5EF4-FFF2-40B4-BE49-F238E27FC236}">
                <a16:creationId xmlns:a16="http://schemas.microsoft.com/office/drawing/2014/main" id="{D447F90F-5A68-497C-91F1-546F7F46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long-step-label-0">
            <a:extLst xmlns:a="http://schemas.openxmlformats.org/drawingml/2006/main">
              <a:ext uri="{FF2B5EF4-FFF2-40B4-BE49-F238E27FC236}">
                <a16:creationId xmlns:a16="http://schemas.microsoft.com/office/drawing/2014/main" id="{59B29E1B-CC0B-46E6-9CD5-08BDBC086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Pobierz dane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 Jira MCP</a:t>
            </a:r>
          </a:p>
        </p:txBody>
      </p:sp>
      <p:sp>
        <p:nvSpPr>
          <p:cNvPr id="10" name="long-step-1">
            <a:extLst xmlns:a="http://schemas.openxmlformats.org/drawingml/2006/main">
              <a:ext uri="{FF2B5EF4-FFF2-40B4-BE49-F238E27FC236}">
                <a16:creationId xmlns:a16="http://schemas.microsoft.com/office/drawing/2014/main" id="{AA5432AB-6406-4A75-82C3-20C2885A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ong-step-label-1">
            <a:extLst xmlns:a="http://schemas.openxmlformats.org/drawingml/2006/main">
              <a:ext uri="{FF2B5EF4-FFF2-40B4-BE49-F238E27FC236}">
                <a16:creationId xmlns:a16="http://schemas.microsoft.com/office/drawing/2014/main" id="{76404D78-C905-4FC7-997C-C24AC040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Odczytaj zadania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wymagania</a:t>
            </a:r>
          </a:p>
        </p:txBody>
      </p:sp>
      <p:sp>
        <p:nvSpPr>
          <p:cNvPr id="12" name="long-step-2">
            <a:extLst xmlns:a="http://schemas.openxmlformats.org/drawingml/2006/main">
              <a:ext uri="{FF2B5EF4-FFF2-40B4-BE49-F238E27FC236}">
                <a16:creationId xmlns:a16="http://schemas.microsoft.com/office/drawing/2014/main" id="{7E8D0CB5-6BFB-4F2C-8D81-6D635C14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ong-step-label-2">
            <a:extLst xmlns:a="http://schemas.openxmlformats.org/drawingml/2006/main">
              <a:ext uri="{FF2B5EF4-FFF2-40B4-BE49-F238E27FC236}">
                <a16:creationId xmlns:a16="http://schemas.microsoft.com/office/drawing/2014/main" id="{A549558E-8EBA-415F-A1BE-051891D4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Zaloguj się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systemu</a:t>
            </a:r>
          </a:p>
        </p:txBody>
      </p:sp>
      <p:sp>
        <p:nvSpPr>
          <p:cNvPr id="14" name="long-step-3">
            <a:extLst xmlns:a="http://schemas.openxmlformats.org/drawingml/2006/main">
              <a:ext uri="{FF2B5EF4-FFF2-40B4-BE49-F238E27FC236}">
                <a16:creationId xmlns:a16="http://schemas.microsoft.com/office/drawing/2014/main" id="{86151202-2249-4813-A045-E306677D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ong-step-label-3">
            <a:extLst xmlns:a="http://schemas.openxmlformats.org/drawingml/2006/main">
              <a:ext uri="{FF2B5EF4-FFF2-40B4-BE49-F238E27FC236}">
                <a16:creationId xmlns:a16="http://schemas.microsoft.com/office/drawing/2014/main" id="{63BD576C-AF9B-4721-B73F-88A1AABB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Sprawdź DOM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porównaj</a:t>
            </a:r>
          </a:p>
        </p:txBody>
      </p:sp>
      <p:sp>
        <p:nvSpPr>
          <p:cNvPr id="16" name="long-step-4">
            <a:extLst xmlns:a="http://schemas.openxmlformats.org/drawingml/2006/main">
              <a:ext uri="{FF2B5EF4-FFF2-40B4-BE49-F238E27FC236}">
                <a16:creationId xmlns:a16="http://schemas.microsoft.com/office/drawing/2014/main" id="{122EFAC9-55E0-4989-83B9-E57925C73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ong-step-label-4">
            <a:extLst xmlns:a="http://schemas.openxmlformats.org/drawingml/2006/main">
              <a:ext uri="{FF2B5EF4-FFF2-40B4-BE49-F238E27FC236}">
                <a16:creationId xmlns:a16="http://schemas.microsoft.com/office/drawing/2014/main" id="{E81ECB25-D9C2-4326-AE14-01B45690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Zapisz różnice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 Markdown</a:t>
            </a:r>
          </a:p>
        </p:txBody>
      </p:sp>
      <p:sp>
        <p:nvSpPr>
          <p:cNvPr id="18" name="long-step-5">
            <a:extLst xmlns:a="http://schemas.openxmlformats.org/drawingml/2006/main">
              <a:ext uri="{FF2B5EF4-FFF2-40B4-BE49-F238E27FC236}">
                <a16:creationId xmlns:a16="http://schemas.microsoft.com/office/drawing/2014/main" id="{82F000A9-C430-42D9-A099-0B0CF595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ong-step-label-5">
            <a:extLst xmlns:a="http://schemas.openxmlformats.org/drawingml/2006/main">
              <a:ext uri="{FF2B5EF4-FFF2-40B4-BE49-F238E27FC236}">
                <a16:creationId xmlns:a16="http://schemas.microsoft.com/office/drawing/2014/main" id="{AAD42307-B4D9-406B-BCAE-ECEC4BFE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Dodaj Markdown</a:t>
            </a:r>
          </a:p>
          <a:p xmlns:a="http://schemas.openxmlformats.org/drawingml/2006/main"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nowej sprawy Jira</a:t>
            </a:r>
          </a:p>
        </p:txBody>
      </p:sp>
      <p:sp>
        <p:nvSpPr>
          <p:cNvPr id="20" name="long-step-6">
            <a:extLst xmlns:a="http://schemas.openxmlformats.org/drawingml/2006/main">
              <a:ext uri="{FF2B5EF4-FFF2-40B4-BE49-F238E27FC236}">
                <a16:creationId xmlns:a16="http://schemas.microsoft.com/office/drawing/2014/main" id="{218724B9-1CCF-4C94-B52A-DCDF2EAF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3371850"/>
            <a:ext cx="1847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B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ong-step-label-6">
            <a:extLst xmlns:a="http://schemas.openxmlformats.org/drawingml/2006/main">
              <a:ext uri="{FF2B5EF4-FFF2-40B4-BE49-F238E27FC236}">
                <a16:creationId xmlns:a16="http://schemas.microsoft.com/office/drawing/2014/main" id="{926CB2B7-12D5-45D6-8AA7-0E871D29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3514725"/>
            <a:ext cx="1657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Utwórz test</a:t>
            </a:r>
          </a:p>
          <a:p xmlns:a="http://schemas.openxmlformats.org/drawingml/2006/main">
            <a:r>
              <a:rPr sz="15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 bazie dowodów</a:t>
            </a:r>
          </a:p>
        </p:txBody>
      </p:sp>
      <p:sp>
        <p:nvSpPr>
          <p:cNvPr id="28" name="distraction-2">
            <a:extLst xmlns:a="http://schemas.openxmlformats.org/drawingml/2006/main">
              <a:ext uri="{FF2B5EF4-FFF2-40B4-BE49-F238E27FC236}">
                <a16:creationId xmlns:a16="http://schemas.microsoft.com/office/drawing/2014/main" id="{E2AB64A6-70BE-44CA-A318-AD4E02ED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Ponowne logowanie</a:t>
            </a:r>
          </a:p>
        </p:txBody>
      </p:sp>
      <p:sp>
        <p:nvSpPr>
          <p:cNvPr id="30" name="distraction-3">
            <a:extLst xmlns:a="http://schemas.openxmlformats.org/drawingml/2006/main">
              <a:ext uri="{FF2B5EF4-FFF2-40B4-BE49-F238E27FC236}">
                <a16:creationId xmlns:a16="http://schemas.microsoft.com/office/drawing/2014/main" id="{B35E1DAF-C4F3-47D3-AF33-705250CB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Zbędne szczegóły DOM</a:t>
            </a:r>
          </a:p>
        </p:txBody>
      </p:sp>
      <p:sp>
        <p:nvSpPr>
          <p:cNvPr id="32" name="distraction-4">
            <a:extLst xmlns:a="http://schemas.openxmlformats.org/drawingml/2006/main">
              <a:ext uri="{FF2B5EF4-FFF2-40B4-BE49-F238E27FC236}">
                <a16:creationId xmlns:a16="http://schemas.microsoft.com/office/drawing/2014/main" id="{DDEC0DCE-619B-4086-B223-90EE42AE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72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Poprawki formatu</a:t>
            </a:r>
          </a:p>
        </p:txBody>
      </p:sp>
      <p:sp>
        <p:nvSpPr>
          <p:cNvPr id="34" name="risk">
            <a:extLst xmlns:a="http://schemas.openxmlformats.org/drawingml/2006/main">
              <a:ext uri="{FF2B5EF4-FFF2-40B4-BE49-F238E27FC236}">
                <a16:creationId xmlns:a16="http://schemas.microsoft.com/office/drawing/2014/main" id="{616E4A57-740F-40B5-A860-55752473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1390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B34B3D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B34B3D"/>
                </a:solidFill>
                <a:latin typeface="DejaVu Sans"/>
                <a:ea typeface="DejaVu Sans"/>
                <a:cs typeface="DejaVu Sans"/>
              </a:rPr>
              <a:t>Ryzyko dryfu: nadmiar szczegółów utrudnia śledzenie wcześniejszych wymagań.</a:t>
            </a:r>
          </a:p>
        </p:txBody>
      </p:sp>
      <p:sp>
        <p:nvSpPr>
          <p:cNvPr id="35" name="path-divider">
            <a:extLst xmlns:a="http://schemas.openxmlformats.org/drawingml/2006/main">
              <a:ext uri="{FF2B5EF4-FFF2-40B4-BE49-F238E27FC236}">
                <a16:creationId xmlns:a16="http://schemas.microsoft.com/office/drawing/2014/main" id="{FC915145-1C4B-4FFD-A596-6A99A1F2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14020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C"/>
          </a:solidFill>
          <a:ln xmlns:a="http://schemas.openxmlformats.org/drawingml/2006/main" w="0">
            <a:noFill/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separate-label">
            <a:extLst xmlns:a="http://schemas.openxmlformats.org/drawingml/2006/main">
              <a:ext uri="{FF2B5EF4-FFF2-40B4-BE49-F238E27FC236}">
                <a16:creationId xmlns:a16="http://schemas.microsoft.com/office/drawing/2014/main" id="{37161118-FD65-4CC3-9E64-DFB8A662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952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B   OSOBNE URUCHOMIENIA COPILOT CLI</a:t>
            </a:r>
          </a:p>
        </p:txBody>
      </p:sp>
      <p:sp>
        <p:nvSpPr>
          <p:cNvPr id="37" name="handoff-rule">
            <a:extLst xmlns:a="http://schemas.openxmlformats.org/drawingml/2006/main">
              <a:ext uri="{FF2B5EF4-FFF2-40B4-BE49-F238E27FC236}">
                <a16:creationId xmlns:a16="http://schemas.microsoft.com/office/drawing/2014/main" id="{D90246E6-DB4C-4435-8CD3-E2C1467A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390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Każde uruchomienie dostaje konkretne polecenie i potrzebne wyniki poprzedniego.</a:t>
            </a:r>
          </a:p>
        </p:txBody>
      </p:sp>
      <p:sp>
        <p:nvSpPr>
          <p:cNvPr id="38" name="run-1">
            <a:extLst xmlns:a="http://schemas.openxmlformats.org/drawingml/2006/main">
              <a:ext uri="{FF2B5EF4-FFF2-40B4-BE49-F238E27FC236}">
                <a16:creationId xmlns:a16="http://schemas.microsoft.com/office/drawing/2014/main" id="{2BE09A48-CE7A-403B-8DCE-9E5438C5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run-number-0">
            <a:extLst xmlns:a="http://schemas.openxmlformats.org/drawingml/2006/main">
              <a:ext uri="{FF2B5EF4-FFF2-40B4-BE49-F238E27FC236}">
                <a16:creationId xmlns:a16="http://schemas.microsoft.com/office/drawing/2014/main" id="{69B7F71D-1835-4139-AB88-B6CAA044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1</a:t>
            </a:r>
          </a:p>
        </p:txBody>
      </p:sp>
      <p:sp>
        <p:nvSpPr>
          <p:cNvPr id="40" name="run-action-0">
            <a:extLst xmlns:a="http://schemas.openxmlformats.org/drawingml/2006/main">
              <a:ext uri="{FF2B5EF4-FFF2-40B4-BE49-F238E27FC236}">
                <a16:creationId xmlns:a16="http://schemas.microsoft.com/office/drawing/2014/main" id="{1CB82859-5206-4C98-904A-3B442DDA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Pobierz dane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 Jira MCP</a:t>
            </a:r>
          </a:p>
        </p:txBody>
      </p:sp>
      <p:sp>
        <p:nvSpPr>
          <p:cNvPr id="41" name="output-0">
            <a:extLst xmlns:a="http://schemas.openxmlformats.org/drawingml/2006/main">
              <a:ext uri="{FF2B5EF4-FFF2-40B4-BE49-F238E27FC236}">
                <a16:creationId xmlns:a16="http://schemas.microsoft.com/office/drawing/2014/main" id="{9E011E9B-2E63-4125-9126-EC96F11A1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tasks.json</a:t>
            </a:r>
          </a:p>
        </p:txBody>
      </p:sp>
      <p:sp>
        <p:nvSpPr>
          <p:cNvPr id="42" name="run-2">
            <a:extLst xmlns:a="http://schemas.openxmlformats.org/drawingml/2006/main">
              <a:ext uri="{FF2B5EF4-FFF2-40B4-BE49-F238E27FC236}">
                <a16:creationId xmlns:a16="http://schemas.microsoft.com/office/drawing/2014/main" id="{A91B49AF-2975-42F7-BA65-91A89E25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run-number-1">
            <a:extLst xmlns:a="http://schemas.openxmlformats.org/drawingml/2006/main">
              <a:ext uri="{FF2B5EF4-FFF2-40B4-BE49-F238E27FC236}">
                <a16:creationId xmlns:a16="http://schemas.microsoft.com/office/drawing/2014/main" id="{E5A5F59E-B3DA-4C81-BD7A-FA7E7173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2</a:t>
            </a:r>
          </a:p>
        </p:txBody>
      </p:sp>
      <p:sp>
        <p:nvSpPr>
          <p:cNvPr id="44" name="run-action-1">
            <a:extLst xmlns:a="http://schemas.openxmlformats.org/drawingml/2006/main">
              <a:ext uri="{FF2B5EF4-FFF2-40B4-BE49-F238E27FC236}">
                <a16:creationId xmlns:a16="http://schemas.microsoft.com/office/drawing/2014/main" id="{65D5ABEB-5391-454B-B6B5-E83D403B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Odczytaj zadania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wymagania</a:t>
            </a:r>
          </a:p>
        </p:txBody>
      </p:sp>
      <p:sp>
        <p:nvSpPr>
          <p:cNvPr id="45" name="output-1">
            <a:extLst xmlns:a="http://schemas.openxmlformats.org/drawingml/2006/main">
              <a:ext uri="{FF2B5EF4-FFF2-40B4-BE49-F238E27FC236}">
                <a16:creationId xmlns:a16="http://schemas.microsoft.com/office/drawing/2014/main" id="{61A58C99-2452-4C92-B3D6-6DE9DEDF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requirements.md</a:t>
            </a:r>
          </a:p>
        </p:txBody>
      </p:sp>
      <p:sp>
        <p:nvSpPr>
          <p:cNvPr id="46" name="run-3">
            <a:extLst xmlns:a="http://schemas.openxmlformats.org/drawingml/2006/main">
              <a:ext uri="{FF2B5EF4-FFF2-40B4-BE49-F238E27FC236}">
                <a16:creationId xmlns:a16="http://schemas.microsoft.com/office/drawing/2014/main" id="{3FCB0F3D-5332-4BA1-9946-98DB9C6B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run-number-2">
            <a:extLst xmlns:a="http://schemas.openxmlformats.org/drawingml/2006/main">
              <a:ext uri="{FF2B5EF4-FFF2-40B4-BE49-F238E27FC236}">
                <a16:creationId xmlns:a16="http://schemas.microsoft.com/office/drawing/2014/main" id="{2541F953-4F9D-4D49-A9EA-F61D2A2A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3</a:t>
            </a:r>
          </a:p>
        </p:txBody>
      </p:sp>
      <p:sp>
        <p:nvSpPr>
          <p:cNvPr id="48" name="run-action-2">
            <a:extLst xmlns:a="http://schemas.openxmlformats.org/drawingml/2006/main">
              <a:ext uri="{FF2B5EF4-FFF2-40B4-BE49-F238E27FC236}">
                <a16:creationId xmlns:a16="http://schemas.microsoft.com/office/drawing/2014/main" id="{56E52173-4519-4F89-9536-4908C190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Zaloguj się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systemu</a:t>
            </a:r>
          </a:p>
        </p:txBody>
      </p:sp>
      <p:sp>
        <p:nvSpPr>
          <p:cNvPr id="49" name="output-2">
            <a:extLst xmlns:a="http://schemas.openxmlformats.org/drawingml/2006/main">
              <a:ext uri="{FF2B5EF4-FFF2-40B4-BE49-F238E27FC236}">
                <a16:creationId xmlns:a16="http://schemas.microsoft.com/office/drawing/2014/main" id="{F6F0D978-B700-4683-B7BC-0A48649A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session.json*</a:t>
            </a:r>
          </a:p>
        </p:txBody>
      </p:sp>
      <p:sp>
        <p:nvSpPr>
          <p:cNvPr id="50" name="run-4">
            <a:extLst xmlns:a="http://schemas.openxmlformats.org/drawingml/2006/main">
              <a:ext uri="{FF2B5EF4-FFF2-40B4-BE49-F238E27FC236}">
                <a16:creationId xmlns:a16="http://schemas.microsoft.com/office/drawing/2014/main" id="{ED8D122C-1553-4520-B65E-8442C7E0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run-number-3">
            <a:extLst xmlns:a="http://schemas.openxmlformats.org/drawingml/2006/main">
              <a:ext uri="{FF2B5EF4-FFF2-40B4-BE49-F238E27FC236}">
                <a16:creationId xmlns:a16="http://schemas.microsoft.com/office/drawing/2014/main" id="{B07B0FF5-1F7A-467B-ADA0-5E4CD5FCB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4</a:t>
            </a:r>
          </a:p>
        </p:txBody>
      </p:sp>
      <p:sp>
        <p:nvSpPr>
          <p:cNvPr id="52" name="run-action-3">
            <a:extLst xmlns:a="http://schemas.openxmlformats.org/drawingml/2006/main">
              <a:ext uri="{FF2B5EF4-FFF2-40B4-BE49-F238E27FC236}">
                <a16:creationId xmlns:a16="http://schemas.microsoft.com/office/drawing/2014/main" id="{B255D692-6A71-4C1A-800D-DC6596AB2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Sprawdź DOM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i porównaj</a:t>
            </a:r>
          </a:p>
        </p:txBody>
      </p:sp>
      <p:sp>
        <p:nvSpPr>
          <p:cNvPr id="53" name="output-3">
            <a:extLst xmlns:a="http://schemas.openxmlformats.org/drawingml/2006/main">
              <a:ext uri="{FF2B5EF4-FFF2-40B4-BE49-F238E27FC236}">
                <a16:creationId xmlns:a16="http://schemas.microsoft.com/office/drawing/2014/main" id="{8BEBF2E9-E569-4E73-9594-97838D7B7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dom-evidence.json</a:t>
            </a:r>
          </a:p>
        </p:txBody>
      </p:sp>
      <p:sp>
        <p:nvSpPr>
          <p:cNvPr id="54" name="run-5">
            <a:extLst xmlns:a="http://schemas.openxmlformats.org/drawingml/2006/main">
              <a:ext uri="{FF2B5EF4-FFF2-40B4-BE49-F238E27FC236}">
                <a16:creationId xmlns:a16="http://schemas.microsoft.com/office/drawing/2014/main" id="{458F4610-C619-4AA8-AE2A-60FD42FD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run-number-4">
            <a:extLst xmlns:a="http://schemas.openxmlformats.org/drawingml/2006/main">
              <a:ext uri="{FF2B5EF4-FFF2-40B4-BE49-F238E27FC236}">
                <a16:creationId xmlns:a16="http://schemas.microsoft.com/office/drawing/2014/main" id="{190055F8-BA71-4ACD-93EF-CE594B80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5</a:t>
            </a:r>
          </a:p>
        </p:txBody>
      </p:sp>
      <p:sp>
        <p:nvSpPr>
          <p:cNvPr id="56" name="run-action-4">
            <a:extLst xmlns:a="http://schemas.openxmlformats.org/drawingml/2006/main">
              <a:ext uri="{FF2B5EF4-FFF2-40B4-BE49-F238E27FC236}">
                <a16:creationId xmlns:a16="http://schemas.microsoft.com/office/drawing/2014/main" id="{A9DBB5D4-E8AD-4383-BD17-F1EF6804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Zapisz różnice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w Markdown</a:t>
            </a:r>
          </a:p>
        </p:txBody>
      </p:sp>
      <p:sp>
        <p:nvSpPr>
          <p:cNvPr id="57" name="output-4">
            <a:extLst xmlns:a="http://schemas.openxmlformats.org/drawingml/2006/main">
              <a:ext uri="{FF2B5EF4-FFF2-40B4-BE49-F238E27FC236}">
                <a16:creationId xmlns:a16="http://schemas.microsoft.com/office/drawing/2014/main" id="{C163BBD8-49E2-4EA2-AA02-11E5290D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differences.md</a:t>
            </a:r>
          </a:p>
        </p:txBody>
      </p:sp>
      <p:sp>
        <p:nvSpPr>
          <p:cNvPr id="58" name="run-6">
            <a:extLst xmlns:a="http://schemas.openxmlformats.org/drawingml/2006/main">
              <a:ext uri="{FF2B5EF4-FFF2-40B4-BE49-F238E27FC236}">
                <a16:creationId xmlns:a16="http://schemas.microsoft.com/office/drawing/2014/main" id="{57F1F3B8-E5E5-4C2D-BF87-25089C47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53725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run-number-5">
            <a:extLst xmlns:a="http://schemas.openxmlformats.org/drawingml/2006/main">
              <a:ext uri="{FF2B5EF4-FFF2-40B4-BE49-F238E27FC236}">
                <a16:creationId xmlns:a16="http://schemas.microsoft.com/office/drawing/2014/main" id="{ABC1AAA6-59A2-4E28-9C20-45596244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6</a:t>
            </a:r>
          </a:p>
        </p:txBody>
      </p:sp>
      <p:sp>
        <p:nvSpPr>
          <p:cNvPr id="60" name="run-action-5">
            <a:extLst xmlns:a="http://schemas.openxmlformats.org/drawingml/2006/main">
              <a:ext uri="{FF2B5EF4-FFF2-40B4-BE49-F238E27FC236}">
                <a16:creationId xmlns:a16="http://schemas.microsoft.com/office/drawing/2014/main" id="{FBF4649F-FC2E-475B-B389-F0B9C22D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8975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Dodaj Markdown</a:t>
            </a:r>
          </a:p>
          <a:p xmlns:a="http://schemas.openxmlformats.org/drawingml/2006/main">
            <a:r>
              <a:rPr sz="120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do nowej sprawy Jira</a:t>
            </a:r>
          </a:p>
        </p:txBody>
      </p:sp>
      <p:sp>
        <p:nvSpPr>
          <p:cNvPr id="61" name="output-5">
            <a:extLst xmlns:a="http://schemas.openxmlformats.org/drawingml/2006/main">
              <a:ext uri="{FF2B5EF4-FFF2-40B4-BE49-F238E27FC236}">
                <a16:creationId xmlns:a16="http://schemas.microsoft.com/office/drawing/2014/main" id="{7B765E57-AE15-4428-A0E5-6DC4BFDC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issue.json</a:t>
            </a:r>
          </a:p>
        </p:txBody>
      </p:sp>
      <p:sp>
        <p:nvSpPr>
          <p:cNvPr id="62" name="run-7">
            <a:extLst xmlns:a="http://schemas.openxmlformats.org/drawingml/2006/main">
              <a:ext uri="{FF2B5EF4-FFF2-40B4-BE49-F238E27FC236}">
                <a16:creationId xmlns:a16="http://schemas.microsoft.com/office/drawing/2014/main" id="{8D57B2C2-1DB8-420C-9635-4BC55888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2550" y="6619875"/>
            <a:ext cx="1847850" cy="962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5F7"/>
          </a:solidFill>
          <a:ln xmlns:a="http://schemas.openxmlformats.org/drawingml/2006/main" w="14288">
            <a:solidFill>
              <a:srgbClr val="C7D6DC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run-number-6">
            <a:extLst xmlns:a="http://schemas.openxmlformats.org/drawingml/2006/main">
              <a:ext uri="{FF2B5EF4-FFF2-40B4-BE49-F238E27FC236}">
                <a16:creationId xmlns:a16="http://schemas.microsoft.com/office/drawing/2014/main" id="{E89A008C-5CAF-49E6-8636-20872D2B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6696075"/>
            <a:ext cx="1657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00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KROK 7</a:t>
            </a:r>
          </a:p>
        </p:txBody>
      </p:sp>
      <p:sp>
        <p:nvSpPr>
          <p:cNvPr id="64" name="run-action-6">
            <a:extLst xmlns:a="http://schemas.openxmlformats.org/drawingml/2006/main">
              <a:ext uri="{FF2B5EF4-FFF2-40B4-BE49-F238E27FC236}">
                <a16:creationId xmlns:a16="http://schemas.microsoft.com/office/drawing/2014/main" id="{4F8F6727-680C-4450-B710-09CAB81E1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77800" y="6981825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192F3C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Utwórz test</a:t>
            </a:r>
          </a:p>
          <a:p xmlns:a="http://schemas.openxmlformats.org/drawingml/2006/main">
            <a:r>
              <a:rPr sz="1350" b="0" lang="pl-PL">
                <a:solidFill>
                  <a:srgbClr val="192F3C"/>
                </a:solidFill>
                <a:latin typeface="DejaVu Sans"/>
                <a:ea typeface="DejaVu Sans"/>
                <a:cs typeface="DejaVu Sans"/>
              </a:rPr>
              <a:t>na bazie dowodów</a:t>
            </a:r>
          </a:p>
        </p:txBody>
      </p:sp>
      <p:sp>
        <p:nvSpPr>
          <p:cNvPr id="65" name="output-6">
            <a:extLst xmlns:a="http://schemas.openxmlformats.org/drawingml/2006/main">
              <a:ext uri="{FF2B5EF4-FFF2-40B4-BE49-F238E27FC236}">
                <a16:creationId xmlns:a16="http://schemas.microsoft.com/office/drawing/2014/main" id="{A700B04A-84A1-4590-8FF4-52A6FBE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53975" y="7724775"/>
            <a:ext cx="1905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ctr">
              <a:defRPr sz="1275" b="1">
                <a:solidFill>
                  <a:srgbClr val="006C86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 lang="pl-PL">
                <a:solidFill>
                  <a:srgbClr val="006C86"/>
                </a:solidFill>
                <a:latin typeface="DejaVu Sans"/>
                <a:ea typeface="DejaVu Sans"/>
                <a:cs typeface="DejaVu Sans"/>
              </a:rPr>
              <a:t>pliki testów</a:t>
            </a:r>
          </a:p>
        </p:txBody>
      </p:sp>
      <p:sp>
        <p:nvSpPr>
          <p:cNvPr id="72" name="caveat">
            <a:extLst xmlns:a="http://schemas.openxmlformats.org/drawingml/2006/main">
              <a:ext uri="{FF2B5EF4-FFF2-40B4-BE49-F238E27FC236}">
                <a16:creationId xmlns:a16="http://schemas.microsoft.com/office/drawing/2014/main" id="{40389C7D-72AE-4FF6-8CD0-BE379B4DC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72450"/>
            <a:ext cx="1343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873"/>
                </a:solidFill>
                <a:latin typeface="DejaVu Sans"/>
                <a:ea typeface="DejaVu Sans"/>
                <a:cs typeface="DejaVu Sans"/>
              </a:defRPr>
            </a:pPr>
            <a:r>
              <a:rPr sz="1140" b="0" lang="pl-PL">
                <a:solidFill>
                  <a:srgbClr val="536873"/>
                </a:solidFill>
                <a:latin typeface="DejaVu Sans"/>
                <a:ea typeface="DejaVu Sans"/>
                <a:cs typeface="DejaVu Sans"/>
              </a:rPr>
              <a:t>Przykład poglądowy. Jawne przekazanie wyników pomaga skupić pracę. *Zachowaj stan sesji przeglądarki.</a:t>
            </a:r>
          </a:p>
        </p:txBody>
      </p:sp>
    </p:spTree>
    <p:extLst>
      <p:ext uri="{BB962C8B-B14F-4D97-AF65-F5344CB8AC3E}">
        <p14:creationId xmlns:p14="http://schemas.microsoft.com/office/powerpoint/2010/main" val="1425362329"/>
      </p:ext>
    </p:extLst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44368"/>
            <a:ext cx="14145768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0" b="1" lang="pl-PL">
                <a:solidFill>
                  <a:srgbClr val="FF000F"/>
                </a:solidFill>
                <a:latin typeface="DejaVu Sans"/>
              </a:rPr>
              <a:t>Losowość</a:t>
            </a:r>
          </a:p>
        </p:txBody>
      </p:sp>
      <p:grpSp>
        <p:nvGrpSpPr>
          <p:cNvPr id="3" name="Group 2"/>
          <p:cNvGrpSpPr/>
          <p:nvPr/>
        </p:nvGrpSpPr>
        <p:grpSpPr>
          <a:xfrm rot="20760000">
            <a:off x="12618720" y="6995160"/>
            <a:ext cx="868680" cy="868680"/>
            <a:chOff x="12618720" y="6995160"/>
            <a:chExt cx="868680" cy="868680"/>
          </a:xfrm>
        </p:grpSpPr>
        <p:sp>
          <p:nvSpPr>
            <p:cNvPr id="4" name="Rounded Rectangle 3"/>
            <p:cNvSpPr/>
            <p:nvPr/>
          </p:nvSpPr>
          <p:spPr>
            <a:xfrm>
              <a:off x="12618720" y="6995160"/>
              <a:ext cx="868680" cy="86868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38100">
              <a:solidFill>
                <a:srgbClr val="FF000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2788112" y="716455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3205079" y="716455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12996595" y="7373035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12788112" y="7581519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Oval 8"/>
            <p:cNvSpPr/>
            <p:nvPr/>
          </p:nvSpPr>
          <p:spPr>
            <a:xfrm>
              <a:off x="13205079" y="7581519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0" name="Group 9"/>
          <p:cNvGrpSpPr/>
          <p:nvPr/>
        </p:nvGrpSpPr>
        <p:grpSpPr>
          <a:xfrm rot="720000">
            <a:off x="13670280" y="7086600"/>
            <a:ext cx="868680" cy="868680"/>
            <a:chOff x="13670280" y="7086600"/>
            <a:chExt cx="868680" cy="868680"/>
          </a:xfrm>
        </p:grpSpPr>
        <p:sp>
          <p:nvSpPr>
            <p:cNvPr id="11" name="Rounded Rectangle 10"/>
            <p:cNvSpPr/>
            <p:nvPr/>
          </p:nvSpPr>
          <p:spPr>
            <a:xfrm>
              <a:off x="13670280" y="7086600"/>
              <a:ext cx="868680" cy="86868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38100">
              <a:solidFill>
                <a:srgbClr val="FF000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13839672" y="7255992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14048155" y="7464475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14256638" y="7672958"/>
              <a:ext cx="112928" cy="112928"/>
            </a:xfrm>
            <a:prstGeom prst="ellipse">
              <a:avLst/>
            </a:prstGeom>
            <a:solidFill>
              <a:srgbClr val="FF000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20040"/>
            <a:ext cx="1285646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Szkolenie inżynierskie ABB / Pokaż — uogólnij — zautomatyzuj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40177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pl-PL">
                <a:solidFill>
                  <a:srgbClr val="192F3C"/>
                </a:solidFill>
                <a:latin typeface="DejaVu Sans"/>
              </a:rPr>
              <a:t>Ten sam prompt, różne poprawne odpowiedzi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673352"/>
            <a:ext cx="14017752" cy="0"/>
          </a:xfrm>
          <a:prstGeom prst="line">
            <a:avLst/>
          </a:prstGeom>
          <a:ln w="19050">
            <a:solidFill>
              <a:srgbClr val="006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282928" y="8074152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01952"/>
            <a:ext cx="13853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lang="pl-PL">
                <a:solidFill>
                  <a:srgbClr val="192F3C"/>
                </a:solidFill>
                <a:latin typeface="DejaVu Sans"/>
              </a:rPr>
              <a:t>Generowanie jest probabilistyczne: mogą zmieniać się słowa, kolejność i wnioski.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" y="2697480"/>
            <a:ext cx="14017752" cy="731520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880360"/>
            <a:ext cx="13569696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lang="pl-PL">
                <a:solidFill>
                  <a:srgbClr val="192F3C"/>
                </a:solidFill>
                <a:latin typeface="DejaVu Sans"/>
              </a:rPr>
              <a:t>„Zaplanuj dwa tygodnie w Tajlandii. Co warto zobaczyć?”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" y="3694176"/>
            <a:ext cx="4489704" cy="1508760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867912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pl-PL">
                <a:solidFill>
                  <a:srgbClr val="006C86"/>
                </a:solidFill>
                <a:latin typeface="DejaVu San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27048" y="3886200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pl-PL">
                <a:solidFill>
                  <a:srgbClr val="192F3C"/>
                </a:solidFill>
                <a:latin typeface="DejaVu Sans"/>
              </a:rPr>
              <a:t>Plan według miejsc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4041648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Bangkok → północ Tajlandii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→ plaże i wyspy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76672" y="3694176"/>
            <a:ext cx="4489704" cy="1508760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77840" y="3867912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pl-PL">
                <a:solidFill>
                  <a:srgbClr val="006C86"/>
                </a:solidFill>
                <a:latin typeface="DejaVu San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3886200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pl-PL">
                <a:solidFill>
                  <a:srgbClr val="192F3C"/>
                </a:solidFill>
                <a:latin typeface="DejaVu Sans"/>
              </a:rPr>
              <a:t>Najpierw doprecyzowanie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6984" y="4434840"/>
            <a:ext cx="4041648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Pytania o zainteresowania,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budżet i tempo podróży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40696" y="3694176"/>
            <a:ext cx="4489704" cy="1508760"/>
          </a:xfrm>
          <a:prstGeom prst="rect">
            <a:avLst/>
          </a:prstGeom>
          <a:solidFill>
            <a:srgbClr val="ECF4F6"/>
          </a:solidFill>
          <a:ln w="12700">
            <a:solidFill>
              <a:srgbClr val="BFD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41864" y="3867912"/>
            <a:ext cx="594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pl-PL">
                <a:solidFill>
                  <a:srgbClr val="006C86"/>
                </a:solidFill>
                <a:latin typeface="DejaVu San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55096" y="3886200"/>
            <a:ext cx="33467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lang="pl-PL">
                <a:solidFill>
                  <a:srgbClr val="192F3C"/>
                </a:solidFill>
                <a:latin typeface="DejaVu Sans"/>
              </a:rPr>
              <a:t>Plan dzień po dniu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51008" y="4434840"/>
            <a:ext cx="4041648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Bangkok → Chiang Mai → wyspy,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lang="pl-PL">
                <a:solidFill>
                  <a:srgbClr val="192F3C"/>
                </a:solidFill>
                <a:latin typeface="DejaVu Sans"/>
              </a:rPr>
              <a:t>z podziałem na dni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431536"/>
            <a:ext cx="1389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pl-PL">
                <a:solidFill>
                  <a:srgbClr val="536873"/>
                </a:solidFill>
                <a:latin typeface="DejaVu Sans"/>
              </a:rPr>
              <a:t>Przykłady poglądowe — poprawność sprawdzamy według wymagań i dowodów.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5952744"/>
            <a:ext cx="13898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lang="pl-PL">
                <a:solidFill>
                  <a:srgbClr val="006C86"/>
                </a:solidFill>
                <a:latin typeface="DejaVu Sans"/>
              </a:rPr>
              <a:t>Jak ograniczyć niepożądaną zmienność?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6574536"/>
            <a:ext cx="3218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lang="pl-PL">
                <a:solidFill>
                  <a:srgbClr val="006C86"/>
                </a:solidFill>
                <a:latin typeface="DejaVu Sans"/>
              </a:rPr>
              <a:t>Jedno zadanie na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" y="7059168"/>
            <a:ext cx="320040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lang="pl-PL">
                <a:solidFill>
                  <a:srgbClr val="192F3C"/>
                </a:solidFill>
                <a:latin typeface="DejaVu Sans"/>
              </a:rPr>
              <a:t>Dziel pracę na małe, jasno określone kroki.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7952" y="6574536"/>
            <a:ext cx="3218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lang="pl-PL">
                <a:solidFill>
                  <a:srgbClr val="006C86"/>
                </a:solidFill>
                <a:latin typeface="DejaVu Sans"/>
              </a:rPr>
              <a:t>Precyzyjne kryteria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87952" y="7059168"/>
            <a:ext cx="320040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lang="pl-PL">
                <a:solidFill>
                  <a:srgbClr val="192F3C"/>
                </a:solidFill>
                <a:latin typeface="DejaVu Sans"/>
              </a:rPr>
              <a:t>Określ źródła, format i warunki odbioru.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6574536"/>
            <a:ext cx="3218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lang="pl-PL">
                <a:solidFill>
                  <a:srgbClr val="006C86"/>
                </a:solidFill>
                <a:latin typeface="DejaVu Sans"/>
              </a:rPr>
              <a:t>Kod do stałych reguł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7059168"/>
            <a:ext cx="320040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lang="pl-PL">
                <a:solidFill>
                  <a:srgbClr val="192F3C"/>
                </a:solidFill>
                <a:latin typeface="DejaVu Sans"/>
              </a:rPr>
              <a:t>Obliczenia i kontrole przenieś do kodu.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56848" y="6574536"/>
            <a:ext cx="32186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39" b="1" lang="pl-PL">
                <a:solidFill>
                  <a:srgbClr val="006C86"/>
                </a:solidFill>
                <a:latin typeface="DejaVu Sans"/>
              </a:rPr>
              <a:t>Powtórz i porównaj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56848" y="7059168"/>
            <a:ext cx="3200400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 lang="pl-PL">
                <a:solidFill>
                  <a:srgbClr val="192F3C"/>
                </a:solidFill>
                <a:latin typeface="DejaVu Sans"/>
              </a:rPr>
              <a:t>Sprawdź istotne różnice w źródłach.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44368"/>
            <a:ext cx="14145768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00" b="1" lang="pl-PL">
                <a:solidFill>
                  <a:srgbClr val="FF000F"/>
                </a:solidFill>
                <a:latin typeface="DejaVu Sans"/>
              </a:rPr>
              <a:t>Amnezja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12648" y="320040"/>
            <a:ext cx="12856464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Szkolenie inżynierskie ABB / Pokaż — uogólnij — zautomatyzuj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41248"/>
            <a:ext cx="1401775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50" b="1" lang="pl-PL">
                <a:solidFill>
                  <a:srgbClr val="192F3C"/>
                </a:solidFill>
                <a:latin typeface="DejaVu Sans"/>
              </a:rPr>
              <a:t>Bezstanowość: historia w każdym wywołaniu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12648" y="1673352"/>
            <a:ext cx="14017752" cy="0"/>
          </a:xfrm>
          <a:prstGeom prst="line">
            <a:avLst/>
          </a:prstGeom>
          <a:ln w="19050">
            <a:solidFill>
              <a:srgbClr val="006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4282928" y="8074152"/>
            <a:ext cx="347472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lang="pl-PL">
                <a:solidFill>
                  <a:srgbClr val="536873"/>
                </a:solidFill>
                <a:latin typeface="DejaVu San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01952"/>
            <a:ext cx="13944600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 lang="pl-PL">
                <a:solidFill>
                  <a:srgbClr val="192F3C"/>
                </a:solidFill>
                <a:latin typeface="DejaVu Sans"/>
              </a:rPr>
              <a:t>Model nie zachowuje rozmowy między wywołaniami. Kontekst dostarcza aplikacja.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2999232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1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2907792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3536" y="2930652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494008" y="3200400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11905488" y="2907792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42063" y="2930652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167360" y="3200400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3551408" y="2907792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587984" y="2930652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4480559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5312" y="4325112"/>
            <a:ext cx="3767328" cy="713232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98464" y="4389120"/>
            <a:ext cx="1600200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4411980"/>
            <a:ext cx="152704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44383" y="4480559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4389120"/>
            <a:ext cx="1700784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46136" y="4411980"/>
            <a:ext cx="1627632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Odpowiedź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25312" y="4032504"/>
            <a:ext cx="376732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pl-PL">
                <a:solidFill>
                  <a:srgbClr val="7955A4"/>
                </a:solidFill>
                <a:latin typeface="DejaVu Sans"/>
              </a:rPr>
              <a:t>HISTORIA / POWTARZANY PREFIKS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4480559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66960" y="4389120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03536" y="4411980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94008" y="4681728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1905488" y="4389120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42063" y="4411980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167360" y="4681728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13551408" y="4389120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587984" y="4411980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" y="5961888"/>
            <a:ext cx="169164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pl-PL">
                <a:solidFill>
                  <a:srgbClr val="192F3C"/>
                </a:solidFill>
                <a:latin typeface="DejaVu Sans"/>
              </a:rPr>
              <a:t>Wywołanie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59152" y="5806440"/>
            <a:ext cx="7333488" cy="713232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2304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68880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Prompt 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78808" y="5870448"/>
            <a:ext cx="1664208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15384" y="5893308"/>
            <a:ext cx="1591056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Odpowiedź 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44768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Prompt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1272" y="5870448"/>
            <a:ext cx="1728216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27848" y="5893308"/>
            <a:ext cx="1655063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70" b="0" lang="pl-PL">
                <a:solidFill>
                  <a:srgbClr val="192F3C"/>
                </a:solidFill>
                <a:latin typeface="DejaVu Sans"/>
              </a:rPr>
              <a:t>Odpowiedź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13632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79592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26096" y="5961888"/>
            <a:ext cx="228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59152" y="5513832"/>
            <a:ext cx="733348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lang="pl-PL">
                <a:solidFill>
                  <a:srgbClr val="7955A4"/>
                </a:solidFill>
                <a:latin typeface="DejaVu Sans"/>
              </a:rPr>
              <a:t>HISTORIA / POWTARZANY PREFIKS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20072" y="5961888"/>
            <a:ext cx="2011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pl-PL">
                <a:solidFill>
                  <a:srgbClr val="536873"/>
                </a:solidFill>
                <a:latin typeface="DejaVu Sans"/>
              </a:rPr>
              <a:t>+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66960" y="5870448"/>
            <a:ext cx="1444752" cy="585216"/>
          </a:xfrm>
          <a:prstGeom prst="rect">
            <a:avLst/>
          </a:prstGeom>
          <a:solidFill>
            <a:srgbClr val="DF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03536" y="5893308"/>
            <a:ext cx="1371600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1" lang="pl-PL">
                <a:solidFill>
                  <a:srgbClr val="192F3C"/>
                </a:solidFill>
                <a:latin typeface="DejaVu Sans"/>
              </a:rPr>
              <a:t>Prompt 3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1494008" y="6163056"/>
            <a:ext cx="329184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1905488" y="5870448"/>
            <a:ext cx="118872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006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942063" y="5893308"/>
            <a:ext cx="1115568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70" b="1" lang="pl-PL">
                <a:solidFill>
                  <a:srgbClr val="192F3C"/>
                </a:solidFill>
                <a:latin typeface="DejaVu Sans"/>
              </a:rPr>
              <a:t>Model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3167360" y="6163056"/>
            <a:ext cx="310896" cy="0"/>
          </a:xfrm>
          <a:prstGeom prst="line">
            <a:avLst/>
          </a:prstGeom>
          <a:ln w="22860">
            <a:solidFill>
              <a:srgbClr val="006C8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3551408" y="5870448"/>
            <a:ext cx="1078992" cy="585216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87984" y="5893308"/>
            <a:ext cx="1005839" cy="539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70" b="0" lang="pl-PL">
                <a:solidFill>
                  <a:srgbClr val="192F3C"/>
                </a:solidFill>
                <a:latin typeface="DejaVu Sans"/>
              </a:rPr>
              <a:t>Odp. 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2648" y="6876288"/>
            <a:ext cx="1391716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lang="pl-PL">
                <a:solidFill>
                  <a:srgbClr val="006C86"/>
                </a:solidFill>
                <a:latin typeface="DejaVu Sans"/>
              </a:rPr>
              <a:t>Nowe wywołanie = wybrana historia + nowy prompt → model → odpowiedź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" y="7434072"/>
            <a:ext cx="13898880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80" b="0" lang="pl-PL">
                <a:solidFill>
                  <a:srgbClr val="536873"/>
                </a:solidFill>
                <a:latin typeface="DejaVu Sans"/>
              </a:rPr>
              <a:t>Schemat uproszczony: aplikacja może wybierać lub streszczać wcześniejsze wiadomości.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" y="7808975"/>
            <a:ext cx="13395960" cy="374904"/>
          </a:xfrm>
          <a:prstGeom prst="rect">
            <a:avLst/>
          </a:prstGeom>
          <a:solidFill>
            <a:srgbClr val="ECE7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49808" y="7872983"/>
            <a:ext cx="131216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pl-PL">
                <a:solidFill>
                  <a:srgbClr val="192F3C"/>
                </a:solidFill>
                <a:latin typeface="DejaVu Sans"/>
              </a:rPr>
              <a:t>Cache przyspiesza przetwarzanie prefiksu; nie jest trwałą pamięcią rozmowy ani uczeniem modelu.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Szkolenie ABB — losowość, bezstanowość i powtarzalne procesy</dc:title>
  <dcterms:created xsi:type="dcterms:W3CDTF">2026-10-14T18:56:01.8070000Z</dcterms:created>
  <dcterms:modified xsi:type="dcterms:W3CDTF">2026-10-14T18:56:01.8070000Z</dcterms:modified>
  <dc:subject>Losowość i kontekst modelu; metoda czterech etapów; osobne uruchomienia Copilot CLI</dc:subject>
  <dc:language>pl-PL</dc:language>
  <dc:description>Sześć edytowalnych slajdów po polsku. Rozszerzenie prezentacji z PR #2.</dc:description>
</coreProperties>
</file>